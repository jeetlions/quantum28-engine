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1430000" cy="8991295"/>
  <p:notesSz cx="8991295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495" y="137160"/>
            <a:ext cx="10820095" cy="3502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Quantum28 Pipeline — 1 of 3:  Inputs → Risk Manager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04495" y="472745"/>
            <a:ext cx="10820095" cy="213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never talk to each other; each writes a structured JSON file to a shared folder.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29000" y="761695"/>
            <a:ext cx="4572000" cy="427025"/>
          </a:xfrm>
          <a:prstGeom prst="roundRect">
            <a:avLst>
              <a:gd name="adj" fmla="val 12848"/>
            </a:avLst>
          </a:prstGeom>
          <a:solidFill>
            <a:srgbClr val="EEF1F4"/>
          </a:solidFill>
          <a:ln w="19050">
            <a:solidFill>
              <a:srgbClr val="4B5563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orchestrator.py run --ticker NVDA (cron / on-demand)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0" y="1188720"/>
            <a:ext cx="7315" cy="304495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971800" y="1493215"/>
            <a:ext cx="5486400" cy="472745"/>
          </a:xfrm>
          <a:prstGeom prst="roundRect">
            <a:avLst>
              <a:gd name="adj" fmla="val 11605"/>
            </a:avLst>
          </a:prstGeom>
          <a:solidFill>
            <a:srgbClr val="FBE9E7"/>
          </a:solidFill>
          <a:ln w="19050">
            <a:solidFill>
              <a:srgbClr val="B4322E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B4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gate</a:t>
            </a:r>
            <a:endParaRPr lang="en-US" sz="13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caller + authorize ticker (restricted list)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0" y="1965960"/>
            <a:ext cx="7315" cy="304495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458200" y="2286000"/>
            <a:ext cx="2667305" cy="1143000"/>
          </a:xfrm>
          <a:prstGeom prst="roundRect">
            <a:avLst>
              <a:gd name="adj" fmla="val 4800"/>
            </a:avLst>
          </a:prstGeom>
          <a:solidFill>
            <a:srgbClr val="D5F0EC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76200" tIns="76200" rIns="76200" bIns="762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FEED (datafeed.py)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Tastytrade / IB / demo (auto-fallback)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normalized options_block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Options: IV / term / gamma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compute_gex() = your gex_algo.py hook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61895"/>
            <a:ext cx="5333695" cy="3276295"/>
          </a:xfrm>
          <a:prstGeom prst="roundRect">
            <a:avLst>
              <a:gd name="adj" fmla="val 1675"/>
            </a:avLst>
          </a:prstGeom>
          <a:solidFill>
            <a:srgbClr val="DCE6F5"/>
          </a:solidFill>
          <a:ln w="19050">
            <a:solidFill>
              <a:srgbClr val="2E6DB4"/>
            </a:solidFill>
            <a:prstDash val="solid"/>
          </a:ln>
        </p:spPr>
        <p:txBody>
          <a:bodyPr wrap="square" lIns="76200" tIns="76200" rIns="76200" bIns="762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VOTERS — weighted vote on DIRECTION</a:t>
            </a:r>
            <a:endParaRPr lang="en-US" sz="1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· Technical · Insider (Form 4 + Congress)</a:t>
            </a:r>
            <a:endParaRPr lang="en-US" sz="1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Quant/Factor · Options (IV + GEX via gex_algo) · Earnings-Quality (veto)</a:t>
            </a:r>
            <a:endParaRPr lang="en-US" sz="1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(events, IPO lock-ups) · Alt-Data · News</a:t>
            </a:r>
            <a:endParaRPr lang="en-US" sz="1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→ its *_view.json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19495" y="2361895"/>
            <a:ext cx="4953305" cy="2286000"/>
          </a:xfrm>
          <a:prstGeom prst="roundRect">
            <a:avLst>
              <a:gd name="adj" fmla="val 2400"/>
            </a:avLst>
          </a:prstGeom>
          <a:solidFill>
            <a:srgbClr val="FBEED2"/>
          </a:solidFill>
          <a:ln w="19050">
            <a:solidFill>
              <a:srgbClr val="B7791F"/>
            </a:solidFill>
            <a:prstDash val="solid"/>
          </a:ln>
        </p:spPr>
        <p:txBody>
          <a:bodyPr wrap="square" lIns="76200" tIns="76200" rIns="76200" bIns="762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OVERLAYS — trim / veto (no direction)</a:t>
            </a:r>
            <a:endParaRPr lang="en-US" sz="1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· Macro (FRED, Bull&amp;Bear, net-liquidity)</a:t>
            </a:r>
            <a:endParaRPr lang="en-US" sz="1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· Liquidity · FX-Macro</a:t>
            </a:r>
            <a:endParaRPr lang="en-US" sz="1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stress: veto longs, KEEP shorts;</a:t>
            </a:r>
            <a:endParaRPr lang="en-US" sz="1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seizure → flatten both sides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5790895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4F1E1"/>
          </a:solidFill>
          <a:ln w="19050">
            <a:solidFill>
              <a:srgbClr val="4A7A43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4A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</a:t>
            </a:r>
            <a:endParaRPr lang="en-US" sz="13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view: schema + freshness (as_of) + injection scan → reject stale/malformed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15000" y="6248095"/>
            <a:ext cx="7315" cy="289865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752905" y="6553505"/>
            <a:ext cx="7925105" cy="1904695"/>
          </a:xfrm>
          <a:prstGeom prst="roundRect">
            <a:avLst>
              <a:gd name="adj" fmla="val 2880"/>
            </a:avLst>
          </a:prstGeom>
          <a:solidFill>
            <a:srgbClr val="DCE6F5"/>
          </a:solidFill>
          <a:ln w="19050">
            <a:solidFill>
              <a:srgbClr val="2E6DB4"/>
            </a:solidFill>
            <a:prstDash val="solid"/>
          </a:ln>
        </p:spPr>
        <p:txBody>
          <a:bodyPr wrap="square" lIns="76200" tIns="76200" rIns="76200" bIns="7620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MANAGER</a:t>
            </a:r>
            <a:endParaRPr lang="en-US" sz="16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vote: Σ(weight × conviction × direction) → net</a:t>
            </a:r>
            <a:endParaRPr lang="en-US" sz="16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 FLOOR: |net| &lt; MIN_CONVICTION → no directional trade</a:t>
            </a:r>
            <a:endParaRPr lang="en-US" sz="16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STRESS overlay: veto longs / keep shorts; systemic → flat</a:t>
            </a:r>
            <a:endParaRPr lang="en-US" sz="16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/ NEUTRAL regime: flat vote + IV/gamma edge → non-directional trade</a:t>
            </a:r>
            <a:endParaRPr lang="en-US" sz="16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writes risk_decision.json  (continues on slide 2)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495" y="137160"/>
            <a:ext cx="10820095" cy="3502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Quantum28 Pipeline — 2 of 3:  Decision → Book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04495" y="472745"/>
            <a:ext cx="10820095" cy="213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approved view becomes a structure, a sign-off, a sized book — and eventually a managed exit.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38705" y="761695"/>
            <a:ext cx="6553505" cy="411480"/>
          </a:xfrm>
          <a:prstGeom prst="roundRect">
            <a:avLst>
              <a:gd name="adj" fmla="val 13333"/>
            </a:avLst>
          </a:prstGeom>
          <a:solidFill>
            <a:srgbClr val="DCE6F5"/>
          </a:solidFill>
          <a:ln w="19050">
            <a:solidFill>
              <a:srgbClr val="2E6DB4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MANAGER (from slide 1)</a:t>
            </a:r>
            <a:endParaRPr lang="en-US" sz="12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risk_decision.json — one decision from all views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15000" y="1173175"/>
            <a:ext cx="7315" cy="274320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4572000" y="1447495"/>
            <a:ext cx="2286000" cy="838505"/>
          </a:xfrm>
          <a:prstGeom prst="diamond">
            <a:avLst/>
          </a:prstGeom>
          <a:solidFill>
            <a:srgbClr val="FFF3CD"/>
          </a:solidFill>
          <a:ln w="25400">
            <a:solidFill>
              <a:srgbClr val="B7791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tradeable?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0" y="1867205"/>
            <a:ext cx="1143000" cy="7315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001000" y="1645920"/>
            <a:ext cx="1904695" cy="441655"/>
          </a:xfrm>
          <a:prstGeom prst="roundRect">
            <a:avLst>
              <a:gd name="adj" fmla="val 12422"/>
            </a:avLst>
          </a:prstGeom>
          <a:solidFill>
            <a:srgbClr val="EEF1F4"/>
          </a:solidFill>
          <a:ln w="19050">
            <a:solidFill>
              <a:srgbClr val="4B5563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only (shadow book)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15000" y="2286000"/>
            <a:ext cx="7315" cy="274320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971800" y="2560320"/>
            <a:ext cx="5486400" cy="441655"/>
          </a:xfrm>
          <a:prstGeom prst="roundRect">
            <a:avLst>
              <a:gd name="adj" fmla="val 12422"/>
            </a:avLst>
          </a:prstGeom>
          <a:solidFill>
            <a:srgbClr val="EBE3F7"/>
          </a:solidFill>
          <a:ln w="19050">
            <a:solidFill>
              <a:srgbClr val="6B46C1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(human-in-the-loop)</a:t>
            </a:r>
            <a:endParaRPr lang="en-US" sz="13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→ pending_approvals/ (survives restart)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0" y="3001975"/>
            <a:ext cx="7315" cy="258775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971800" y="3261665"/>
            <a:ext cx="5486400" cy="427025"/>
          </a:xfrm>
          <a:prstGeom prst="roundRect">
            <a:avLst>
              <a:gd name="adj" fmla="val 12848"/>
            </a:avLst>
          </a:prstGeom>
          <a:solidFill>
            <a:srgbClr val="EBE3F7"/>
          </a:solidFill>
          <a:ln w="19050">
            <a:solidFill>
              <a:srgbClr val="6B46C1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 OR  Dashboard → resume()</a:t>
            </a:r>
            <a:endParaRPr lang="en-US" sz="13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DISAPPROVE → server.py /api/resume (same durable resume)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0" y="3687775"/>
            <a:ext cx="7315" cy="258775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971800" y="3947465"/>
            <a:ext cx="5486400" cy="441655"/>
          </a:xfrm>
          <a:prstGeom prst="roundRect">
            <a:avLst>
              <a:gd name="adj" fmla="val 12422"/>
            </a:avLst>
          </a:prstGeom>
          <a:solidFill>
            <a:srgbClr val="E4F1E1"/>
          </a:solidFill>
          <a:ln w="19050">
            <a:solidFill>
              <a:srgbClr val="4A7A43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4A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ticket → orders/</a:t>
            </a:r>
            <a:endParaRPr lang="en-US" sz="13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executes — the agent never trades / moves money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4495" y="4572000"/>
            <a:ext cx="3276295" cy="1828800"/>
          </a:xfrm>
          <a:prstGeom prst="roundRect">
            <a:avLst>
              <a:gd name="adj" fmla="val 3000"/>
            </a:avLst>
          </a:prstGeom>
          <a:solidFill>
            <a:srgbClr val="DCE6F5"/>
          </a:solidFill>
          <a:ln w="19050">
            <a:solidFill>
              <a:srgbClr val="2E6DB4"/>
            </a:solidFill>
            <a:prstDash val="solid"/>
          </a:ln>
        </p:spPr>
        <p:txBody>
          <a:bodyPr wrap="square" lIns="76200" tIns="76200" rIns="76200" bIns="762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/ PORTFOLIO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the whole BOOK; caps: per-name, sector,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correlation-cluster, gross/net, risk budget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COMPETITION when full: rank by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 → rotate out weakest held; WAITLIST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48295" y="4572000"/>
            <a:ext cx="3276295" cy="1828800"/>
          </a:xfrm>
          <a:prstGeom prst="roundRect">
            <a:avLst>
              <a:gd name="adj" fmla="val 3000"/>
            </a:avLst>
          </a:prstGeom>
          <a:solidFill>
            <a:srgbClr val="E4F1E1"/>
          </a:solidFill>
          <a:ln w="19050">
            <a:solidFill>
              <a:srgbClr val="4A7A43"/>
            </a:solidFill>
            <a:prstDash val="solid"/>
          </a:ln>
        </p:spPr>
        <p:txBody>
          <a:bodyPr wrap="square" lIns="76200" tIns="76200" rIns="76200" bIns="762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4A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STRATEGIST (constructor)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→ structure: vertical / diagonal /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/ butterfly / condor / RATIO SPREAD /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fly (long vs short gamma)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is CALIBRATED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71800" y="6537960"/>
            <a:ext cx="5486400" cy="594360"/>
          </a:xfrm>
          <a:prstGeom prst="roundRect">
            <a:avLst>
              <a:gd name="adj" fmla="val 9231"/>
            </a:avLst>
          </a:prstGeom>
          <a:solidFill>
            <a:srgbClr val="D5F0EC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MANAGER (closer) — same HITL</a:t>
            </a:r>
            <a:endParaRPr lang="en-US" sz="12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OPEN book: RISK → VIEW → PROFIT → TIME → HOLD</a:t>
            </a:r>
            <a:endParaRPr lang="en-US" sz="12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/ ROLL / TRIM (CIO rotations route here)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7360920"/>
            <a:ext cx="10515600" cy="1143000"/>
          </a:xfrm>
          <a:prstGeom prst="roundRect">
            <a:avLst>
              <a:gd name="adj" fmla="val 4800"/>
            </a:avLst>
          </a:prstGeom>
          <a:solidFill>
            <a:srgbClr val="EEF1F4"/>
          </a:solidFill>
          <a:ln w="19050">
            <a:solidFill>
              <a:srgbClr val="4B5563"/>
            </a:solidFill>
            <a:prstDash val="solid"/>
          </a:ln>
        </p:spPr>
        <p:txBody>
          <a:bodyPr wrap="square" lIns="76200" tIns="76200" rIns="76200" bIns="762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 (from outcomes + logs)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→ analyst_weights.json (net Sortino × capacity − tail CVaR): tunes WHICH analysts to believe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→ calibration.json: put-write buffer / IV floor, vertical pivot, butterfly / diagonal / calendar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placement, per-name suitability — tunes HOW rules act (self-improvement)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feed the next run; model weights are frozen — the FRAMEWORK learns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495" y="137160"/>
            <a:ext cx="10820095" cy="3502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Quantum28 Pipeline — 3 of 3:  Parallel books + reporting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04495" y="472745"/>
            <a:ext cx="10820095" cy="213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0DTE gamma, SSF basis, and the levered-ETF sleeve — all reading the shared feed, all through the SAME HITL.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04495" y="701345"/>
            <a:ext cx="10820095" cy="304495"/>
          </a:xfrm>
          <a:prstGeom prst="roundRect">
            <a:avLst>
              <a:gd name="adj" fmla="val 18018"/>
            </a:avLst>
          </a:prstGeom>
          <a:solidFill>
            <a:srgbClr val="D5F0EC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SHARED MARKET-DATA FEED — datafeed.py</a:t>
            </a:r>
            <a:endParaRPr lang="en-US" sz="11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normalized options_block · Tastytrade / IB / demo (auto-fallback) · feeds every book below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4495" y="1097280"/>
            <a:ext cx="3504895" cy="1904695"/>
          </a:xfrm>
          <a:prstGeom prst="roundRect">
            <a:avLst>
              <a:gd name="adj" fmla="val 2880"/>
            </a:avLst>
          </a:prstGeom>
          <a:solidFill>
            <a:srgbClr val="FBEED2"/>
          </a:solidFill>
          <a:ln w="19050">
            <a:solidFill>
              <a:srgbClr val="B7791F"/>
            </a:solidFill>
            <a:prstDash val="solid"/>
          </a:ln>
        </p:spPr>
        <p:txBody>
          <a:bodyPr wrap="square" lIns="76200" tIns="76200" rIns="76200" bIns="762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0DTE INDEX GAMMA (SPX/NDX)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Analyst gamma read (fresh)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→ BWB on the pin (midday;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deferred pre-11:30 as wall forms)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→ BREAKOUT: backspread /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reverse fly (long gamma), early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/ no-regime → stand aside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62095" y="1097280"/>
            <a:ext cx="3504895" cy="1904695"/>
          </a:xfrm>
          <a:prstGeom prst="roundRect">
            <a:avLst>
              <a:gd name="adj" fmla="val 2880"/>
            </a:avLst>
          </a:prstGeom>
          <a:solidFill>
            <a:srgbClr val="D5F0EC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76200" tIns="76200" rIns="76200" bIns="762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TRADER — SSF (mkt-neutral)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SSF vs spot; fair S·(1+(r−q)T)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repo vs funding, net cost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RICH/contango → CASH-AND-CARRY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CHEAP/backwardation → REVERSE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crash: front basis gaps, long-dated lags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must clear costs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19695" y="1097280"/>
            <a:ext cx="3504895" cy="1904695"/>
          </a:xfrm>
          <a:prstGeom prst="roundRect">
            <a:avLst>
              <a:gd name="adj" fmla="val 2880"/>
            </a:avLst>
          </a:prstGeom>
          <a:solidFill>
            <a:srgbClr val="EBE3F7"/>
          </a:solidFill>
          <a:ln w="19050">
            <a:solidFill>
              <a:srgbClr val="6B46C1"/>
            </a:solidFill>
            <a:prstDash val="solid"/>
          </a:ln>
        </p:spPr>
        <p:txBody>
          <a:bodyPr wrap="square" lIns="76200" tIns="76200" rIns="76200" bIns="762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LEVERED-ETF DECAY SLEEVE — own book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Structural-Decay Analyst (The Decay Edge):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3-level signal → composite → short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/ UVXY / TQQQ … vol drag + contango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budget: 10 pos · 4% gross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DEFINED-RISK only · no naked short vol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veto still flattens the tail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3001975"/>
            <a:ext cx="3276295" cy="427025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715000" y="3001975"/>
            <a:ext cx="7315" cy="427025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>
            <a:off x="6096305" y="3001975"/>
            <a:ext cx="3276295" cy="427025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200400" y="342900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EBE3F7"/>
          </a:solidFill>
          <a:ln w="19050">
            <a:solidFill>
              <a:srgbClr val="6B46C1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HITL — Telegram or Dashboard</a:t>
            </a:r>
            <a:endParaRPr lang="en-US" sz="12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→ pending_approvals/ · buttons → server.py /api/resume → resume()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3931920"/>
            <a:ext cx="7315" cy="274320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200400" y="4206240"/>
            <a:ext cx="5029200" cy="441655"/>
          </a:xfrm>
          <a:prstGeom prst="roundRect">
            <a:avLst>
              <a:gd name="adj" fmla="val 12422"/>
            </a:avLst>
          </a:prstGeom>
          <a:solidFill>
            <a:srgbClr val="E4F1E1"/>
          </a:solidFill>
          <a:ln w="19050">
            <a:solidFill>
              <a:srgbClr val="4A7A43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4A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tickets → orders/</a:t>
            </a:r>
            <a:endParaRPr lang="en-US" sz="13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spot+future / options legs — desk executes; agent never trades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15000" y="4647895"/>
            <a:ext cx="7315" cy="274320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133295" y="4922215"/>
            <a:ext cx="7162495" cy="1143000"/>
          </a:xfrm>
          <a:prstGeom prst="roundRect">
            <a:avLst>
              <a:gd name="adj" fmla="val 4800"/>
            </a:avLst>
          </a:prstGeom>
          <a:solidFill>
            <a:srgbClr val="DCE6F5"/>
          </a:solidFill>
          <a:ln w="19050">
            <a:solidFill>
              <a:srgbClr val="2E6DB4"/>
            </a:solidFill>
            <a:prstDash val="solid"/>
          </a:ln>
        </p:spPr>
        <p:txBody>
          <a:bodyPr wrap="square" lIns="76200" tIns="76200" rIns="76200" bIns="762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ANALYST (reporter — read-only)</a:t>
            </a:r>
            <a:endParaRPr lang="en-US" sz="1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decision_log + outcomes + signal_log (live vs shadow book)</a:t>
            </a:r>
            <a:endParaRPr lang="en-US" sz="1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PnL, EQUITY CURVE, Sortino &amp; Sharpe, drawdown, hit rate, attribution</a:t>
            </a:r>
            <a:endParaRPr lang="en-US" sz="1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steer weights or trade — scorer kept apart from the optimizer</a:t>
            </a:r>
            <a:endParaRPr lang="en-US" sz="1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performance_report.json + equity_curve.svg (feeds the morning brief)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248095"/>
            <a:ext cx="10515600" cy="838505"/>
          </a:xfrm>
          <a:prstGeom prst="roundRect">
            <a:avLst>
              <a:gd name="adj" fmla="val 6543"/>
            </a:avLst>
          </a:prstGeom>
          <a:solidFill>
            <a:srgbClr val="EEF1F4"/>
          </a:solidFill>
          <a:ln w="19050">
            <a:solidFill>
              <a:srgbClr val="4B5563"/>
            </a:solidFill>
            <a:prstDash val="solid"/>
          </a:ln>
        </p:spPr>
        <p:txBody>
          <a:bodyPr wrap="square" lIns="76200" tIns="76200" rIns="76200" bIns="762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AUTOMATIONS (cron, US/Eastern)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 brief · 09:35 0DTE breakouts · 10:00 &amp; 14:00 basis · 12:30 0DTE flies · 16:30 performance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18:00 re-weight (benchmark) · Fri 18:30 re-calibrate (entry params)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 on reboot; every proposal waits for your tap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495" y="137160"/>
            <a:ext cx="10820095" cy="3502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Inputs → Adapters → Agents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04495" y="472745"/>
            <a:ext cx="10820095" cy="213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feed, the adapter it flows through, and the agent that consumes it.</a:t>
            </a:r>
            <a:endParaRPr lang="en-US" sz="1100" dirty="0"/>
          </a:p>
        </p:txBody>
      </p:sp>
      <p:pic>
        <p:nvPicPr>
          <p:cNvPr id="4" name="Image 0" descr="/sessions/upbeat-zealous-newton/mnt/outputs/flow_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10515600" cy="72923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2026-08-10T16:49:07Z</dcterms:created>
  <dcterms:modified xsi:type="dcterms:W3CDTF">2026-08-10T16:49:07Z</dcterms:modified>
</cp:coreProperties>
</file>